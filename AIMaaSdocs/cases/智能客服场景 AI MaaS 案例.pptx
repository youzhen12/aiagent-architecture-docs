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39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6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大家好，今天我将为大家分享一个关于智能客服场景的AI MaaS案例。随着数字化转型的深入，客户服务面临着前所未有的挑战。本次分享将重点介绍我们如何基于阿里云的大模型服务，构建一套一体化的智能客服解决方案，以应对这些挑战并创造新的价值。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本次分享将分为五个部分。首先，我们会深入探讨当前客服场景普遍存在的背景与挑战。接着，将详细介绍我们提出的解决方案概述。之后，会解析方案的技术架构亮点。第四部分，将展示如何基于阿里云Model Studio进行具体实现。最后，我们会通过数据展示该方案带来的实际效果与价值。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让我们首先聚焦于问题的根源。在当前的客服体系中，无论是ToC还是ToB业务，都普遍面临着一系列棘手的挑战。这些挑战不仅影响着客户体验，也给企业运营带来了巨大压力。接下来，我们将逐一剖析这些痛点。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“信息割裂”，正如背景图中展示的混乱连接一样，我们的数据分散在各个系统孤岛中，客服无法看到全貌。其次是“效率瓶颈”，大量重复劳动没有被技术释放，导致响应缓慢。最后是“体验断层”，客户在服务过程中感受到的是脱节和不一致的体验。这三者共同构成了我们需要解决的核心困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具体来说，我们面临四大核心挑战。第一，高峰期排队严重，尤其是在大促期间，人工客服不堪重负。第二，知识库维护困难，信息更新总是慢一步，导致回答不准确。第三，服务质量不稳定，新员工培训成本高，且难以保证服务一致性。最后，系统割裂问题，客服需要在多个系统间来回切换，效率低下。这些问题共同指向一个目标：在不增加人工成本的前提下，提升服务效率和质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针对以上痛点，我们提出了一套基于大模型的智能客服体系。这个方案的核心思想是构建一个“自助问答 + 工单助手 + 质检助手”的一体化平台，利用AI的能力来系统性地解决问题。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首先是智能自助问答，它能7x24小时在线，精准理解用户意图，解决绝大多数常规问题，极大减轻人工压力。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其次是工单助手，通过自动提取关键信息和智能分派，让问题能第一时间到达最匹配的处理部门。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最后是质检助手，实现了全量对话的实时风控，确保服务合规且无风险。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这三个模块在AI核心引擎的驱动下，共同构成了一个高效、精准且智能的服务闭环。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一体化方案主要包含三大核心能力。首先是自助问答与任务执行，它不仅能回答常见问题，还能通过工具调用实时查询订单、账号状态。其次是智能工单与总结，对于复杂问题，AI能自动生成清晰的工单并总结对话，大大提升流转效率。最后是质检与辅导，AI可以实现全量质检，并为客服提供针对性的辅导，从而整体提升服务质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这一切都构建在阿里云AI MaaS平台之上。在模型层，我们选用了强大的Qwen系列对话模型和Embedding模型，为智能交互和知识检索提供了坚实的基础。在平台层，我们利用阿里云百炼Model Studio的强大能力，能够快速构建和部署应用，特别是其RAG知识库功能，极大地提升了Agent的专业回答能力。而在编排层，我们通过多Agent协同和智能场景路由，实现了复杂的对话流程管理和端到端的决策闭环。这个技术基座保证了我们方案的先进性、稳定性和可扩展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接下来，我们深入了解一下这套方案的技术架构亮点。一个优秀的架构是实现业务目标的关键。我们的设计重点在于高效、灵活和可扩展。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首先是“极致高效”。通过微服务拆分和异步处理架构，我们成功将核心接口的响应速度提升了50%，系统吞吐量也实现了翻倍增长，确保了用户的流畅体验。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其次是“架构灵活”。采用模块化设计和配置化管理，使得业务功能的调整和上线变得非常敏捷，甚至可以做到零停机切换，极大降低了试错成本。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最后是“弹性扩展”。利用容器化技术，系统能够根据流量负载动态调度资源，在业务高峰期自动扩容，不仅保障了稳定性，还帮助我们降低了20%的资源成本。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总的来说，这次架构升级带来的核心价值非常显著，无论是在资源利用、部署效率还是迭代速度上，都有了质的飞跃。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架构有几个关键设计。首先是统一接入网关，它作为所有会话的入口，实现了流量的智能分发和控制。其次是工具化封装，我们将所有后端系统都变成了AI可以调用的工具，极大地扩展了AI的能力边界。最后是知识库RAG技术，通过向量检索，我们让AI能够精准、快速地从海量文档中找到答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架构的另一个亮点是多Agent协同机制。我们设计了五种不同职责的Agent。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Router Agent：像一个总指挥，负责根据用户意图和风险等级进行核心调度。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FAQ Agent：专注于知识问答，处理标准的知识库问题。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Task Agent：负责执行具体操作，比如查询和改签，并生成回复。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4. Escalation Agent：当遇到复杂问题时，负责生成结构化工单并升级给人工。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5. QC Agent：则是全程的质量监控者，确保服务合规和质量。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它们各司其职又相互配合，共同完成复杂的服务任务。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那么，这套复杂的架构是如何在阿里云上实现的呢？接下来我们将介绍基于Model Studio的几个关键实现要点，展示如何快速地将模型能力转化为实际应用。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Model Studio提供了全链路的开发体验：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首先是模型开发与训练环节，它通过可视化的方式，让开发者无需编写大量代码即可完成模型的构建与调优。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其次是部署环节，它能帮助我们将训练好的模型一键发布为生产级服务，大大缩短了上线周期。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最后，在应用集成阶段，我们可以利用其提供的监控能力，确保服务的稳定运行和性能最优。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在实现层面，首先是模型与推理。我们在Model Studio中选择并统一调用Qwen系列模型，并利用Embedding模型构建高效的知识库检索能力。其次是知识库与应用构建，通过百炼的RAG能力和可视化的应用开发界面，我们可以轻松地管理知识库，并将各种能力编排成一个完整的客服应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插件集成方面，我们将后端系统安全地封装为插件供AI调用，并特别设计了高风险操作的安全策略。在评估与监控方面，我们结合平台的技术监控和业务指标监控，建立了一套完整的评估体系，通过持续的实验和优化，确保AI应用的效果达到最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谈了这么多技术和架构，最终还是要回归到业务价值。那么，这套方案究竟能带来怎样的效果呢？接下来，我们用数据说话。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通过这套数据驱动的解决方案，我们主要在三个维度上实现了显著的业务提升：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第一，运营效率大幅提升。通过自动化流程替代大量的人工操作，我们将整体业务流转效率提升了40%，让团队能更快响应市场变化。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第二，运营成本有效降低。精准的营销投放和资源优化配置，帮助我们砍掉了无效开支，整体运营成本降低了25%。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第三，业务增长得到加速。基于数据洞察的科学决策，让我们不错过任何市场机会，直接推动业务增长速度提升了18%。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总而言之，这不仅仅是一次技术升级，更是一次以数据为核心的业务价值跃迁。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根据我们的经验和POC测试，该方案能带来显著的价值。首先，自助解决率可以提升20到30个百分点，这意味着大量简单问题无需人工处理。其次，平均处理时长能降低15%到25%，提升了整体服务效率。更重要的是，质检覆盖率可以从个位数提升到接近百分之百，让服务质量监控变得全面而及时。同时，新客服的上手周期也能大幅缩短。这些数据最终都将转化为实实在在的成本节约和客户满意度提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我的分享到此结束，感谢大家的聆听。我们相信，通过AI MaaS构建的智能客服体系，将为企业的客户服务带来革命性的提升。谢谢！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.svg" Type="http://schemas.openxmlformats.org/officeDocument/2006/relationships/image"/><Relationship Id="rId11" Target="../notesSlides/notesSlide1.xml" Type="http://schemas.openxmlformats.org/officeDocument/2006/relationships/notesSlid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notesSlides/notesSlide2.xml" Type="http://schemas.openxmlformats.org/officeDocument/2006/relationships/notesSlide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4.svg" Type="http://schemas.openxmlformats.org/officeDocument/2006/relationships/image"/><Relationship Id="rId11" Target="../notesSlides/notesSlide4.xml" Type="http://schemas.openxmlformats.org/officeDocument/2006/relationships/notesSlide"/><Relationship Id="rId2" Target="../media/image26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3.svg" Type="http://schemas.openxmlformats.org/officeDocument/2006/relationships/image"/><Relationship Id="rId11" Target="../notesSlides/notesSlide5.xml" Type="http://schemas.openxmlformats.org/officeDocument/2006/relationships/notesSlide"/><Relationship Id="rId2" Target="../media/image35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6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6.jpeg" Type="http://schemas.openxmlformats.org/officeDocument/2006/relationships/image"/><Relationship Id="rId3" Target="../media/image50.png" Type="http://schemas.openxmlformats.org/officeDocument/2006/relationships/image"/><Relationship Id="rId4" Target="../media/image51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jpe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54.png" Type="http://schemas.openxmlformats.org/officeDocument/2006/relationships/image"/><Relationship Id="rId6" Target="../media/image55.svg" Type="http://schemas.openxmlformats.org/officeDocument/2006/relationships/image"/><Relationship Id="rId7" Target="../media/image56.png" Type="http://schemas.openxmlformats.org/officeDocument/2006/relationships/image"/><Relationship Id="rId8" Target="../media/image57.svg" Type="http://schemas.openxmlformats.org/officeDocument/2006/relationships/image"/><Relationship Id="rId9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1.svg" Type="http://schemas.openxmlformats.org/officeDocument/2006/relationships/image"/><Relationship Id="rId11" Target="../media/image40.png" Type="http://schemas.openxmlformats.org/officeDocument/2006/relationships/image"/><Relationship Id="rId12" Target="../media/image41.svg" Type="http://schemas.openxmlformats.org/officeDocument/2006/relationships/image"/><Relationship Id="rId13" Target="../notesSlides/notesSlide10.xml" Type="http://schemas.openxmlformats.org/officeDocument/2006/relationships/notesSlide"/><Relationship Id="rId2" Target="../media/image2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58.png" Type="http://schemas.openxmlformats.org/officeDocument/2006/relationships/image"/><Relationship Id="rId8" Target="../media/image59.sv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jpeg" Type="http://schemas.openxmlformats.org/officeDocument/2006/relationships/image"/><Relationship Id="rId3" Target="../media/image62.png" Type="http://schemas.openxmlformats.org/officeDocument/2006/relationships/image"/><Relationship Id="rId4" Target="../media/image63.svg" Type="http://schemas.openxmlformats.org/officeDocument/2006/relationships/image"/><Relationship Id="rId5" Target="../media/image64.png" Type="http://schemas.openxmlformats.org/officeDocument/2006/relationships/image"/><Relationship Id="rId6" Target="../media/image65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6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66.png" Type="http://schemas.openxmlformats.org/officeDocument/2006/relationships/image"/><Relationship Id="rId6" Target="../media/image67.svg" Type="http://schemas.openxmlformats.org/officeDocument/2006/relationships/image"/><Relationship Id="rId7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8.jpeg" Type="http://schemas.openxmlformats.org/officeDocument/2006/relationships/image"/><Relationship Id="rId3" Target="../media/image50.png" Type="http://schemas.openxmlformats.org/officeDocument/2006/relationships/image"/><Relationship Id="rId4" Target="../media/image51.svg" Type="http://schemas.openxmlformats.org/officeDocument/2006/relationships/image"/><Relationship Id="rId5" Target="../media/image69.png" Type="http://schemas.openxmlformats.org/officeDocument/2006/relationships/image"/><Relationship Id="rId6" Target="../media/image70.svg" Type="http://schemas.openxmlformats.org/officeDocument/2006/relationships/image"/><Relationship Id="rId7" Target="../media/image71.png" Type="http://schemas.openxmlformats.org/officeDocument/2006/relationships/image"/><Relationship Id="rId8" Target="../media/image72.svg" Type="http://schemas.openxmlformats.org/officeDocument/2006/relationships/image"/><Relationship Id="rId9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8.svg" Type="http://schemas.openxmlformats.org/officeDocument/2006/relationships/image"/><Relationship Id="rId11" Target="../notesSlides/notesSlide15.xml" Type="http://schemas.openxmlformats.org/officeDocument/2006/relationships/notesSlide"/><Relationship Id="rId2" Target="../media/image26.jpeg" Type="http://schemas.openxmlformats.org/officeDocument/2006/relationships/image"/><Relationship Id="rId3" Target="../media/image73.png" Type="http://schemas.openxmlformats.org/officeDocument/2006/relationships/image"/><Relationship Id="rId4" Target="../media/image74.svg" Type="http://schemas.openxmlformats.org/officeDocument/2006/relationships/image"/><Relationship Id="rId5" Target="../media/image75.png" Type="http://schemas.openxmlformats.org/officeDocument/2006/relationships/image"/><Relationship Id="rId6" Target="../media/image76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9.jpeg" Type="http://schemas.openxmlformats.org/officeDocument/2006/relationships/image"/><Relationship Id="rId3" Target="../media/image80.png" Type="http://schemas.openxmlformats.org/officeDocument/2006/relationships/image"/><Relationship Id="rId4" Target="../media/image81.svg" Type="http://schemas.openxmlformats.org/officeDocument/2006/relationships/image"/><Relationship Id="rId5" Target="../notesSlides/notesSlide16.xml" Type="http://schemas.openxmlformats.org/officeDocument/2006/relationships/notesSlide"/><Relationship Id="rId6" Target="../media/image8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1807" r="1807" t="1785" b="178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689600" y="1016000"/>
            <a:ext cx="812800" cy="812800"/>
          </a:xfrm>
          <a:prstGeom prst="rect">
            <a:avLst/>
          </a:prstGeom>
          <a:effectLst>
            <a:outerShdw dir="2700000" dist="0" blurRad="254000" algn="tl" rotWithShape="false">
              <a:srgbClr val="22C55E">
                <a:alpha val="5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508000" y="20955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智能客服场景 AI MaaS 案例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9845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基于阿里云大模型的一体化解决方案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826000" y="3746500"/>
            <a:ext cx="2540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0" blurRad="127000" algn="tl" rotWithShape="false">
              <a:srgbClr val="22C55E">
                <a:alpha val="8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318000"/>
            <a:ext cx="304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2133600" y="4572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016000" y="5270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全渠道智能接入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4318000"/>
            <a:ext cx="304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689600" y="45720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572000" y="5270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大模型意图理解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4318000"/>
            <a:ext cx="304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245600" y="45720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128000" y="5270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数据驱动运营决策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846" r="3846" t="3760" b="3931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lang="en-US" b="true" i="false" strike="noStrike" u="none" sz="2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651000"/>
            <a:ext cx="1930400" cy="4191000"/>
          </a:xfrm>
          <a:prstGeom prst="roundRect">
            <a:avLst>
              <a:gd name="adj" fmla="val 9868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22C55E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905000"/>
            <a:ext cx="193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68400" y="26035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584200" y="3429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背景与挑战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4200" y="3937000"/>
            <a:ext cx="177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深入分析当前客服体系面临的核心痛点与业务目标。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692400" y="1651000"/>
            <a:ext cx="1930400" cy="4191000"/>
          </a:xfrm>
          <a:prstGeom prst="roundRect">
            <a:avLst>
              <a:gd name="adj" fmla="val 9868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22C55E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692400" y="1905000"/>
            <a:ext cx="193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352800" y="26035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2768600" y="3429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解决方案概述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768600" y="3937000"/>
            <a:ext cx="177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介绍基于大模型的一体化智能客服方案与技术基座。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876800" y="1651000"/>
            <a:ext cx="1930400" cy="4191000"/>
          </a:xfrm>
          <a:prstGeom prst="roundRect">
            <a:avLst>
              <a:gd name="adj" fmla="val 9868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22C55E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876800" y="1905000"/>
            <a:ext cx="193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537200" y="2603500"/>
            <a:ext cx="609600" cy="609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4953000" y="3429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技术架构亮点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953000" y="3937000"/>
            <a:ext cx="177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解析方案背后的关键设计与多Agent协同机制。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061200" y="1651000"/>
            <a:ext cx="1930400" cy="4191000"/>
          </a:xfrm>
          <a:prstGeom prst="roundRect">
            <a:avLst>
              <a:gd name="adj" fmla="val 9868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22C55E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061200" y="1905000"/>
            <a:ext cx="193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721600" y="2603500"/>
            <a:ext cx="609600" cy="6096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7137400" y="3429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Model Studio实现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137400" y="3937000"/>
            <a:ext cx="177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展示在云平台上高效构建与部署AI应用的具体方法。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245600" y="1651000"/>
            <a:ext cx="1930400" cy="4191000"/>
          </a:xfrm>
          <a:prstGeom prst="roundRect">
            <a:avLst>
              <a:gd name="adj" fmla="val 9868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22C55E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245600" y="1905000"/>
            <a:ext cx="193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9906000" y="2603500"/>
            <a:ext cx="609600" cy="6096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9321800" y="3429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效果与价值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321800" y="3937000"/>
            <a:ext cx="177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量化展示方案带来的业务提升与长期价值。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0" y="67310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4716" r="4716" t="4697" b="469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背景与挑战：当前客服体系面临的困境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cmpd="sng" cap="flat">
            <a:solidFill>
              <a:srgbClr val="0CAC4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3302000" cy="3683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5400000" dist="762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841500" y="2159000"/>
            <a:ext cx="1143000" cy="11430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095500" y="2413000"/>
            <a:ext cx="635000" cy="635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016000" y="3429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信息割裂：系统孤岛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937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多渠道数据分散在不同系统中，无法形成统一视图。客服人员需频繁切换平台，导致信息获取效率低下，难以全面掌握客户诉求。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1778000"/>
            <a:ext cx="3302000" cy="3683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5400000" dist="762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524500" y="2159000"/>
            <a:ext cx="1143000" cy="11430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78500" y="2413000"/>
            <a:ext cx="635000" cy="635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699000" y="3429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效率瓶颈：响应滞后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99000" y="3937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人工处理重复性问题占比高，缺乏智能化辅助工具。业务流程冗长，导致平均响应时间（ART）超标，客户等待焦虑加剧。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28000" y="1778000"/>
            <a:ext cx="3302000" cy="3683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5400000" dist="762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207500" y="2159000"/>
            <a:ext cx="1143000" cy="11430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461500" y="2413000"/>
            <a:ext cx="635000" cy="635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382000" y="3429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体验断层：服务脱节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82000" y="3937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跨部门协作机制缺失，问题流转无闭环。客户需反复复述问题，服务一致性差，直接导致客户满意度（CSAT）下滑与流失风险。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778500"/>
            <a:ext cx="10668000" cy="571500"/>
          </a:xfrm>
          <a:prstGeom prst="roundRect">
            <a:avLst>
              <a:gd name="adj" fmla="val 22222"/>
            </a:avLst>
          </a:prstGeom>
          <a:solidFill>
            <a:srgbClr val="22C55E">
              <a:alpha val="1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" y="58674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核心痛点总结：系统孤岛效应严重，流程碎片化导致服务效率与体验双重受损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000" r="2000" t="1957" b="195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现状与痛点：四大核心挑战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2540000" cy="4191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016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333500" y="1905000"/>
            <a:ext cx="1397000" cy="1397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587500" y="2159000"/>
            <a:ext cx="889000" cy="889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889000" y="3492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高峰期排队严重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4000500"/>
            <a:ext cx="228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大促期间会话量暴涨，人工座席扩容成本高、排班难，导致客户等待过长，满意度显著下滑。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67100" y="1524000"/>
            <a:ext cx="2540000" cy="4191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016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038600" y="1905000"/>
            <a:ext cx="1397000" cy="1397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292600" y="2159000"/>
            <a:ext cx="889000" cy="889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3594100" y="3492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知识库维护困难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594100" y="4000500"/>
            <a:ext cx="228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业务变更频繁，传统FAQ更新滞后，导致“问不到、回不准”，严重影响服务准确性与效率。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172200" y="1524000"/>
            <a:ext cx="2540000" cy="4191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016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743700" y="1905000"/>
            <a:ext cx="1397000" cy="1397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997700" y="2159000"/>
            <a:ext cx="889000" cy="889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299200" y="3492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服务质量不稳定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99200" y="4000500"/>
            <a:ext cx="228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新人上手慢，话术依赖个人经验，质检覆盖率低，风险对话难以及时发现，难以保证服务一致性。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890000" y="1524000"/>
            <a:ext cx="2540000" cy="4191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016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461500" y="1905000"/>
            <a:ext cx="1397000" cy="1397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715500" y="2159000"/>
            <a:ext cx="889000" cy="8890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9017000" y="3492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系统割裂效率低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017000" y="4000500"/>
            <a:ext cx="228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客服、工单、CRM等多系统并存，操作繁琐且切换频繁，严重拉低工作效率与响应速度。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5969000"/>
            <a:ext cx="10668000" cy="558800"/>
          </a:xfrm>
          <a:prstGeom prst="roundRect">
            <a:avLst>
              <a:gd name="adj" fmla="val 45454"/>
            </a:avLst>
          </a:prstGeom>
          <a:solidFill>
            <a:srgbClr val="22C55E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核心目标：在不增加人工成本的前提下，通过智能化手段实现降本增效与服务升级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4971" r="4971" t="5000" b="500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8FAFC">
                  <a:alpha val="98000"/>
                </a:srgbClr>
              </a:gs>
              <a:gs pos="45000">
                <a:srgbClr val="F8FAFC">
                  <a:alpha val="90000"/>
                </a:srgbClr>
              </a:gs>
              <a:gs pos="100000">
                <a:srgbClr val="F8FAFC">
                  <a:alpha val="1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解决方案概述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1684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AI驱动的一体化智能服务体系 —— 构建高效、精准、智能的服务闭环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05000"/>
            <a:ext cx="5588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22C55E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222500"/>
            <a:ext cx="5080000" cy="1079500"/>
          </a:xfrm>
          <a:prstGeom prst="roundRect">
            <a:avLst>
              <a:gd name="adj" fmla="val 9411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70000" y="2438400"/>
            <a:ext cx="635000" cy="635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095500" y="2349500"/>
            <a:ext cx="3810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智能自助问答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7x24小时实时响应，大模型精准理解意图，解决80%常见咨询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429000"/>
            <a:ext cx="5080000" cy="1079500"/>
          </a:xfrm>
          <a:prstGeom prst="roundRect">
            <a:avLst>
              <a:gd name="adj" fmla="val 9411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270000" y="3644900"/>
            <a:ext cx="635000" cy="635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2095500" y="3556000"/>
            <a:ext cx="3810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智能工单助手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自动提取关键信息生成工单，智能分派最优部门，流转效率提升30%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635500"/>
            <a:ext cx="5080000" cy="1079500"/>
          </a:xfrm>
          <a:prstGeom prst="roundRect">
            <a:avLst>
              <a:gd name="adj" fmla="val 9411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270000" y="4851400"/>
            <a:ext cx="635000" cy="635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2095500" y="4762500"/>
            <a:ext cx="3810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智能质检助手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全量对话实时风控，自动识别违规风险，服务合规率达99.5%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858000" y="2540000"/>
            <a:ext cx="457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dir="2700000" dist="101600" blurRad="2032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445500" y="2921000"/>
            <a:ext cx="1397000" cy="1397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85000" y="4445000"/>
            <a:ext cx="431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AI 核心引擎驱动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全链路数据整合 · 实时决策 · 自主进化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846" r="3846" t="3760" b="3931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一体化方案：三大核心能力驱动服务升级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</a:ln>
          <a:effectLst>
            <a:outerShdw dir="5400000" dist="101600" blurRad="190500" algn="tl" rotWithShape="false">
              <a:srgbClr val="22C55E">
                <a:alpha val="1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854200" y="1841500"/>
            <a:ext cx="1117600" cy="11176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057400" y="2044700"/>
            <a:ext cx="711200" cy="711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889000" y="31115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自助问答与任务执行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5626" flipH="false" flipV="false">
            <a:off x="1016014" y="36131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952500" y="3810000"/>
            <a:ext cx="2921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● 业务问答：基于知识库多轮追问，精准答疑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● 实时查询：安全调用系统，查订单/账号/设备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18000" y="1524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</a:ln>
          <a:effectLst>
            <a:outerShdw dir="5400000" dist="101600" blurRad="190500" algn="tl" rotWithShape="false">
              <a:srgbClr val="22C55E">
                <a:alpha val="1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410200" y="1841500"/>
            <a:ext cx="1117600" cy="11176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613400" y="2044700"/>
            <a:ext cx="711200" cy="711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445000" y="31115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智能工单与总结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5626" flipH="false" flipV="false">
            <a:off x="4572014" y="36131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508500" y="3810000"/>
            <a:ext cx="2921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● 自动升级：生成结构化工单，无缝流转专家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● 会话总结：提炼对话重点与用户画像辅助决策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874000" y="1524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</a:ln>
          <a:effectLst>
            <a:outerShdw dir="5400000" dist="101600" blurRad="190500" algn="tl" rotWithShape="false">
              <a:srgbClr val="22C55E">
                <a:alpha val="1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966200" y="1841500"/>
            <a:ext cx="1117600" cy="11176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169400" y="2044700"/>
            <a:ext cx="711200" cy="7112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001000" y="31115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智能质检与辅导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5626" flipH="false" flipV="false">
            <a:off x="8128014" y="36131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064500" y="3810000"/>
            <a:ext cx="2921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● 多维质检：全量覆盖，检查合规与服务态度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● 新人辅导：识别话术优劣，生成个性化建议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0" y="6223000"/>
            <a:ext cx="12192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0" y="6223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AI 驱动 · 流程闭环 · 体验升级 · 降本增效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125" r="3125" t="3125" b="312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技术基座：阿里云 AI MaaS 核心架构解析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19200"/>
            <a:ext cx="10668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3302000" cy="4064000"/>
          </a:xfrm>
          <a:prstGeom prst="roundRect">
            <a:avLst>
              <a:gd name="adj" fmla="val 576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727200" y="2032000"/>
            <a:ext cx="1371600" cy="1371600"/>
          </a:xfrm>
          <a:prstGeom prst="ellipse">
            <a:avLst/>
          </a:prstGeom>
          <a:solidFill>
            <a:srgbClr val="DCFCE7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032000" y="2336800"/>
            <a:ext cx="762000" cy="762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889000" y="3556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模型层 Model Layer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7188" flipH="false" flipV="false">
            <a:off x="1143016" y="4057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1016000" y="42545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对话模型：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基于Qwen系列，支持多语言与多模态交互。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Embedding：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文本向量化转化，赋能精准知识检索。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18000" y="1651000"/>
            <a:ext cx="3302000" cy="4064000"/>
          </a:xfrm>
          <a:prstGeom prst="roundRect">
            <a:avLst>
              <a:gd name="adj" fmla="val 576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283200" y="2032000"/>
            <a:ext cx="1371600" cy="1371600"/>
          </a:xfrm>
          <a:prstGeom prst="ellipse">
            <a:avLst/>
          </a:prstGeom>
          <a:solidFill>
            <a:srgbClr val="DCFCE7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588000" y="2336800"/>
            <a:ext cx="762000" cy="762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4445000" y="3556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平台层 Platform Layer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7188" flipH="false" flipV="false">
            <a:off x="4699016" y="4057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4572000" y="42545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百炼 Studio：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一站式模型开发与应用构建工作台。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核心能力：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集成RAG知识库、插件市场，快速落地Agent应用。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874000" y="1651000"/>
            <a:ext cx="3302000" cy="4064000"/>
          </a:xfrm>
          <a:prstGeom prst="roundRect">
            <a:avLst>
              <a:gd name="adj" fmla="val 576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839200" y="2032000"/>
            <a:ext cx="1371600" cy="1371600"/>
          </a:xfrm>
          <a:prstGeom prst="ellipse">
            <a:avLst/>
          </a:prstGeom>
          <a:solidFill>
            <a:srgbClr val="DCFCE7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144000" y="2336800"/>
            <a:ext cx="762000" cy="762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001000" y="3556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编排层 Orchestration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7188" flipH="false" flipV="false">
            <a:off x="8255016" y="4057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8128000" y="42545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智能路由：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基于场景自动分发至FAQ/任务/人工。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多Agent协作：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Router/Task/Escalation多角色协同决策。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969000"/>
            <a:ext cx="10668000" cy="584200"/>
          </a:xfrm>
          <a:prstGeom prst="roundRect">
            <a:avLst>
              <a:gd name="adj" fmla="val 21739"/>
            </a:avLst>
          </a:prstGeom>
          <a:solidFill>
            <a:srgbClr val="22C55E">
              <a:alpha val="12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5969000"/>
            <a:ext cx="1066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技术基座价值：高可用算力支撑 | 全链路智能编排 | 企业级快速部署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000" r="2000" t="1957" b="195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技术架构亮点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168400"/>
            <a:ext cx="1066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构建高效、灵活、可扩展的智能服务架构，为业务增长提供坚实的技术底座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714500" y="2349500"/>
            <a:ext cx="1397000" cy="1397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032000" y="2667000"/>
            <a:ext cx="762000" cy="762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62000" y="3937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极致高效：性能跃升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4445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微服务拆分与异步处理结合，核心接口响应提速50%，吞吐量翻倍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18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270500" y="2349500"/>
            <a:ext cx="1397000" cy="1397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588000" y="2667000"/>
            <a:ext cx="762000" cy="762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318000" y="3937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架构灵活：敏捷适配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08500" y="4445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模块化设计支持业务快速试错，配置化管理实现功能切换零停机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874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826500" y="2349500"/>
            <a:ext cx="1397000" cy="1397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144000" y="2667000"/>
            <a:ext cx="762000" cy="762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874000" y="3937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弹性扩展：随需而变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064500" y="4445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基于容器化技术动态调度资源，支持业务高峰期自动扩容，成本优化20%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461000"/>
            <a:ext cx="10668000" cy="762000"/>
          </a:xfrm>
          <a:prstGeom prst="roundRect">
            <a:avLst>
              <a:gd name="adj" fmla="val 33333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6134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核心价值：资源利用率提升30% | 部署效率提升50% | 迭代周期缩短40%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4545" r="4545" t="4545" b="454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FFFF">
                  <a:alpha val="85000"/>
                </a:srgbClr>
              </a:gs>
              <a:gs pos="100000">
                <a:srgbClr val="F0FDF4">
                  <a:alpha val="70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关键设计亮点：智能客服架构核心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dir="2700000" dist="101600" blurRad="254000" algn="tl" rotWithShape="false">
              <a:srgbClr val="22C55E">
                <a:alpha val="1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006600" y="1968500"/>
            <a:ext cx="812800" cy="812800"/>
          </a:xfrm>
          <a:prstGeom prst="ellipse">
            <a:avLst/>
          </a:prstGeom>
          <a:solidFill>
            <a:srgbClr val="22C55E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209800" y="21717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016000" y="298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统一接入网关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556000"/>
            <a:ext cx="2794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全渠道会话统一入口，集成鉴权、限流与多模型分流能力，是实现AI与人工服务无缝流转的核心枢纽。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dir="2700000" dist="101600" blurRad="254000" algn="tl" rotWithShape="false">
              <a:srgbClr val="22C55E">
                <a:alpha val="1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689600" y="1968500"/>
            <a:ext cx="812800" cy="812800"/>
          </a:xfrm>
          <a:prstGeom prst="ellipse">
            <a:avLst/>
          </a:prstGeom>
          <a:solidFill>
            <a:srgbClr val="22C55E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892800" y="21717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699000" y="298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后端工具化封装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3556000"/>
            <a:ext cx="2794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将CRM、订单等系统封装为标准插件，通过API安全赋能Agent，大幅扩展AI处理复杂业务的能力边界。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dir="2700000" dist="101600" blurRad="254000" algn="tl" rotWithShape="false">
              <a:srgbClr val="22C55E">
                <a:alpha val="1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372600" y="1968500"/>
            <a:ext cx="812800" cy="812800"/>
          </a:xfrm>
          <a:prstGeom prst="ellipse">
            <a:avLst/>
          </a:prstGeom>
          <a:solidFill>
            <a:srgbClr val="22C55E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75800" y="21717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382000" y="298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 RAG 引擎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382000" y="3556000"/>
            <a:ext cx="2794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基于向量检索与分片策略，精准匹配FAQ与政策文档。支持业务线独立知识库与权限隔离，保障数据安全。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0" y="62230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1807" r="1807" t="1785" b="178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关键设计亮点（二）：多 Agent 协同架构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cmpd="sng" cap="flat">
            <a:solidFill>
              <a:srgbClr val="0CAC4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778000"/>
            <a:ext cx="2032000" cy="3937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1778000"/>
            <a:ext cx="203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17600" y="2159000"/>
            <a:ext cx="812800" cy="8128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320800" y="23622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71500" y="31115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Router Agent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25500" y="3619500"/>
            <a:ext cx="1397000" cy="330200"/>
          </a:xfrm>
          <a:prstGeom prst="roundRect">
            <a:avLst>
              <a:gd name="adj" fmla="val 46153"/>
            </a:avLst>
          </a:prstGeom>
          <a:solidFill>
            <a:srgbClr val="22C55E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核心调度中枢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" y="4127500"/>
            <a:ext cx="177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根据用户意图和风险等级，智能路由到最合适的下游Agent。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794000" y="1778000"/>
            <a:ext cx="2032000" cy="3937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794000" y="1778000"/>
            <a:ext cx="203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403600" y="2159000"/>
            <a:ext cx="812800" cy="8128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606800" y="23622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2857500" y="31115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FAQ Agent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111500" y="3619500"/>
            <a:ext cx="1397000" cy="330200"/>
          </a:xfrm>
          <a:prstGeom prst="roundRect">
            <a:avLst>
              <a:gd name="adj" fmla="val 46153"/>
            </a:avLst>
          </a:prstGeom>
          <a:solidFill>
            <a:srgbClr val="22C55E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知识库问答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921000" y="4127500"/>
            <a:ext cx="177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专注于基于知识库的问答与多轮澄清对话。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080000" y="1778000"/>
            <a:ext cx="2032000" cy="3937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080000" y="1778000"/>
            <a:ext cx="203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689600" y="2159000"/>
            <a:ext cx="812800" cy="8128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892800" y="2362200"/>
            <a:ext cx="406400" cy="4064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5143500" y="31115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Task Agent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397500" y="3619500"/>
            <a:ext cx="1397000" cy="330200"/>
          </a:xfrm>
          <a:prstGeom prst="roundRect">
            <a:avLst>
              <a:gd name="adj" fmla="val 46153"/>
            </a:avLst>
          </a:prstGeom>
          <a:solidFill>
            <a:srgbClr val="22C55E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业务任务执行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207000" y="4127500"/>
            <a:ext cx="177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调用后端工具完成查询、改签等操作，生成解释性回复。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366000" y="1778000"/>
            <a:ext cx="2032000" cy="3937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366000" y="1778000"/>
            <a:ext cx="203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975600" y="2159000"/>
            <a:ext cx="812800" cy="8128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178800" y="2362200"/>
            <a:ext cx="406400" cy="4064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7429500" y="31115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Escalation Agent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683500" y="3619500"/>
            <a:ext cx="1397000" cy="330200"/>
          </a:xfrm>
          <a:prstGeom prst="roundRect">
            <a:avLst>
              <a:gd name="adj" fmla="val 46153"/>
            </a:avLst>
          </a:prstGeom>
          <a:solidFill>
            <a:srgbClr val="22C55E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工单升级处理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493000" y="4127500"/>
            <a:ext cx="177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构建结构化升级单、总结对话、打标签，并推送至人工队列。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9652000" y="1778000"/>
            <a:ext cx="2032000" cy="3937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9652000" y="1778000"/>
            <a:ext cx="203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10261600" y="2159000"/>
            <a:ext cx="812800" cy="8128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464800" y="2362200"/>
            <a:ext cx="406400" cy="406400"/>
          </a:xfrm>
          <a:prstGeom prst="rect">
            <a:avLst/>
          </a:prstGeom>
        </p:spPr>
      </p:pic>
      <p:sp>
        <p:nvSpPr>
          <p:cNvPr name="AutoShape 38" id="38"/>
          <p:cNvSpPr/>
          <p:nvPr/>
        </p:nvSpPr>
        <p:spPr>
          <a:xfrm rot="0" flipH="false" flipV="false">
            <a:off x="9715500" y="31115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QC Agent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9969500" y="3619500"/>
            <a:ext cx="1397000" cy="330200"/>
          </a:xfrm>
          <a:prstGeom prst="roundRect">
            <a:avLst>
              <a:gd name="adj" fmla="val 46153"/>
            </a:avLst>
          </a:prstGeom>
          <a:solidFill>
            <a:srgbClr val="22C55E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实时质量监控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9779000" y="4127500"/>
            <a:ext cx="177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对对话进行合规性、话术规范和用户满意度等维度的实时评估。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508000" y="5969000"/>
            <a:ext cx="11176000" cy="558800"/>
          </a:xfrm>
          <a:prstGeom prst="roundRect">
            <a:avLst>
              <a:gd name="adj" fmla="val 13636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多 Agent 各司其职 · 高效协同闭环 · 智能服务体验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125" r="3125" t="3125" b="312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基于阿里云 Model Studio 的实现要点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核心价值：从模型到应用的快速构建与落地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22C55E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841500" y="2413000"/>
            <a:ext cx="1143000" cy="1143000"/>
          </a:xfrm>
          <a:prstGeom prst="ellipse">
            <a:avLst/>
          </a:prstGeom>
          <a:solidFill>
            <a:srgbClr val="DCF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095500" y="2667000"/>
            <a:ext cx="635000" cy="635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952500" y="3683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模型开发与训练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41910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可视化拖拽组件快速搭建训练流程，内置主流AI框架，支持一键超参调优与模型评估。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2545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22C55E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334000" y="2413000"/>
            <a:ext cx="1143000" cy="1143000"/>
          </a:xfrm>
          <a:prstGeom prst="ellipse">
            <a:avLst/>
          </a:prstGeom>
          <a:solidFill>
            <a:srgbClr val="DCF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588000" y="2667000"/>
            <a:ext cx="635000" cy="635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445000" y="3683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一键部署与发布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445000" y="41910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无缝对接容器服务(ACK)，自动生成RESTful API，实现从模型工件到在线服务的秒级上线。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747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22C55E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826500" y="2413000"/>
            <a:ext cx="1143000" cy="1143000"/>
          </a:xfrm>
          <a:prstGeom prst="ellipse">
            <a:avLst/>
          </a:prstGeom>
          <a:solidFill>
            <a:srgbClr val="DCF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080500" y="2667000"/>
            <a:ext cx="635000" cy="635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937500" y="3683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应用集成与监控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937500" y="41910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提供多语言SDK便于业务集成，集成ARMS实现QPS、延迟等核心指标的实时监控与告警。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941" r="2941" t="2961" b="2961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实现要点：模型、推理与知识库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14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cmpd="sng" cap="flat">
            <a:solidFill>
              <a:srgbClr val="0CAC4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dir="2700000" dist="1016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2032000"/>
            <a:ext cx="1016000" cy="1016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346200" y="22352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143000" y="32385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模型与推理引擎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" y="3810000"/>
            <a:ext cx="4445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模型选型：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在Model Studio中选用Qwen对话模型，通过统一API接口实现高效调用。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向量检索：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利用Qwen Embedding构建知识库索引，结合向量数据库实现高精准RAG召回。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651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dir="2700000" dist="1016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604000" y="2032000"/>
            <a:ext cx="1016000" cy="1016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807200" y="22352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604000" y="32385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知识库与应用编排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3810000"/>
            <a:ext cx="4445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知识管理：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基于百炼RAG能力，按业务维度划分多知识库，支持版本管理与增量更新。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应用生成：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在可视化界面编排Prompt、知识库与插件，快速生成可用的智能客服应用。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6223000"/>
            <a:ext cx="10668000" cy="381000"/>
          </a:xfrm>
          <a:prstGeom prst="roundRect">
            <a:avLst>
              <a:gd name="adj" fmla="val 50000"/>
            </a:avLst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核心价值：通过标准化的模型与知识库能力，实现智能客服系统的快速落地与迭代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125" r="3125" t="3125" b="312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实现要点：插件集成与评估监控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5207000" cy="4445000"/>
          </a:xfrm>
          <a:prstGeom prst="roundRect">
            <a:avLst>
              <a:gd name="adj" fmla="val 285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dir="2700000" dist="101600" blurRad="254000" algn="tl" rotWithShape="false">
              <a:srgbClr val="22C55E">
                <a:alpha val="1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1778000"/>
            <a:ext cx="812800" cy="812800"/>
          </a:xfrm>
          <a:prstGeom prst="ellipse">
            <a:avLst/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346200" y="19812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2159000" y="1841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插件/工具集成体系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159000" y="22860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安全封装 · 风险管控 · 灵活调用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9822" flipH="false" flipV="false">
            <a:off x="1143009" y="2851150"/>
            <a:ext cx="444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1143000" y="3111500"/>
            <a:ext cx="4445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核心能力封装：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将CRM、订单、物流等系统封装为标准API，通过Agent灵活调用。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高危操作防护：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针对退款、关单等场景，采用“生成操作建议+工单草稿”模式，确保业务安全。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397000"/>
            <a:ext cx="5207000" cy="4445000"/>
          </a:xfrm>
          <a:prstGeom prst="roundRect">
            <a:avLst>
              <a:gd name="adj" fmla="val 285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dir="2700000" dist="101600" blurRad="254000" algn="tl" rotWithShape="false">
              <a:srgbClr val="22C55E">
                <a:alpha val="1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1778000"/>
            <a:ext cx="812800" cy="812800"/>
          </a:xfrm>
          <a:prstGeom prst="ellipse">
            <a:avLst/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807200" y="19812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620000" y="1841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全维度评估与监控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0" y="22860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技术指标 · 业务价值 · 持续迭代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9822" flipH="false" flipV="false">
            <a:off x="6604009" y="2851150"/>
            <a:ext cx="444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6604000" y="3111500"/>
            <a:ext cx="4445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技术监控：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利用Model Studio实时观测调用量、延迟、错误率，保障服务稳定性。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业务评估：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结合埋点数据，精准计算自助率、AHT及升级率等核心业务指标。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持续优化：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建立人工评估集，对比不同Prompt与模型版本，推动效果持续迭代。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6096000"/>
            <a:ext cx="10668000" cy="508000"/>
          </a:xfrm>
          <a:prstGeom prst="roundRect">
            <a:avLst>
              <a:gd name="adj" fmla="val 50000"/>
            </a:avLst>
          </a:prstGeom>
          <a:solidFill>
            <a:srgbClr val="22C55E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核心策略：以技术手段保障集成安全，以数据驱动评估与优化闭环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4971" r="4971" t="5000" b="500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效果与价值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143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数据驱动的业务提升与价值创造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1905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968500" y="2286000"/>
            <a:ext cx="1143000" cy="1143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59000" y="2476500"/>
            <a:ext cx="762000" cy="762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016000" y="3556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运营效率提升 40%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191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自动化流程替代人工操作，大幅缩短业务流转周期，响应速度更快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1905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524500" y="2286000"/>
            <a:ext cx="1143000" cy="1143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15000" y="2476500"/>
            <a:ext cx="762000" cy="762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572000" y="3556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运营成本降低 25%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572000" y="4191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精准营销与资源配置优化，减少无效投入，提升每一分预算的产出比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01000" y="1905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001000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080500" y="2286000"/>
            <a:ext cx="1143000" cy="1143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271000" y="2476500"/>
            <a:ext cx="762000" cy="762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8128000" y="3556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业务增长加速 18%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28000" y="4191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数据洞察驱动决策，快速捕捉市场机会，实现可持续的业绩增长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588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22C55E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22C55E">
                <a:alpha val="4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5689600"/>
            <a:ext cx="10668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核心价值：以数据洞察驱动决策，实现业务全链路的效能跃迁与价值创造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491" r="3394" t="3448" b="3448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AI智能客服解决方案核心价值指标提升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2476500" cy="3937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524000"/>
            <a:ext cx="24765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549400" y="1968500"/>
            <a:ext cx="889000" cy="889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739900" y="21590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889000" y="3048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自助解决率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3556000"/>
            <a:ext cx="222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提升 20-30%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4191000"/>
            <a:ext cx="2095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 30-40% 提升至 50-70%，显著降低人工介入率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492500" y="1524000"/>
            <a:ext cx="2476500" cy="3937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492500" y="1524000"/>
            <a:ext cx="24765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279900" y="1968500"/>
            <a:ext cx="889000" cy="889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470400" y="21590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3619500" y="3048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平均处理时长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619500" y="3556000"/>
            <a:ext cx="222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降低 15-25%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683000" y="4191000"/>
            <a:ext cx="2095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AI辅助和自动化操作，大幅缩短单次服务时间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1524000"/>
            <a:ext cx="2476500" cy="3937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1524000"/>
            <a:ext cx="24765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010400" y="1968500"/>
            <a:ext cx="889000" cy="889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200900" y="2159000"/>
            <a:ext cx="508000" cy="5080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6350000" y="3048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质检覆盖率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350000" y="3556000"/>
            <a:ext cx="222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提升至 60-100%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13500" y="4191000"/>
            <a:ext cx="2095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从人工抽检不足3%，到AI实现全量自动质检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953500" y="1524000"/>
            <a:ext cx="2476500" cy="3937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953500" y="1524000"/>
            <a:ext cx="24765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740900" y="1968500"/>
            <a:ext cx="889000" cy="889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931400" y="2159000"/>
            <a:ext cx="508000" cy="5080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9080500" y="3048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新客服上手周期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080500" y="3556000"/>
            <a:ext cx="222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缩短 30-50%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144000" y="4191000"/>
            <a:ext cx="2095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AI提供实时辅导和标准话术，加速新员工成长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62000" y="5778500"/>
            <a:ext cx="10668000" cy="609600"/>
          </a:xfrm>
          <a:prstGeom prst="roundRect">
            <a:avLst>
              <a:gd name="adj" fmla="val 20833"/>
            </a:avLst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数据驱动服务升级，降本增效双重收益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846" r="3846" t="3767" b="376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791200" y="1778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794000"/>
            <a:ext cx="10160000" cy="2794000"/>
          </a:xfrm>
          <a:prstGeom prst="roundRect">
            <a:avLst>
              <a:gd name="adj" fmla="val 6818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22C55E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17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937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651000" y="46990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AI MaaS 智能客服体系，为企业服务带来革命性提升，期待与您共创未来。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